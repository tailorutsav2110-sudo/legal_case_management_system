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2"/>
    <p:sldId id="262" r:id="rId3"/>
    <p:sldId id="257" r:id="rId4"/>
    <p:sldId id="258" r:id="rId5"/>
    <p:sldId id="259" r:id="rId6"/>
    <p:sldId id="263" r:id="rId7"/>
    <p:sldId id="264" r:id="rId8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240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8900"/>
            <a:ext cx="6995635" cy="6370975"/>
          </a:xfrm>
        </p:spPr>
        <p:txBody>
          <a:bodyPr/>
          <a:lstStyle/>
          <a:p>
            <a:pPr algn="ctr">
              <a:spcBef>
                <a:spcPts val="95"/>
              </a:spcBef>
            </a:pPr>
            <a:r>
              <a:rPr lang="en-US" sz="2400" b="1" spc="-10" dirty="0">
                <a:solidFill>
                  <a:srgbClr val="000000"/>
                </a:solidFill>
                <a:cs typeface="Calibri"/>
              </a:rPr>
              <a:t>J.</a:t>
            </a:r>
            <a:r>
              <a:rPr lang="en-US" sz="2400" b="1" spc="-17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dirty="0">
                <a:solidFill>
                  <a:srgbClr val="000000"/>
                </a:solidFill>
                <a:cs typeface="Calibri"/>
              </a:rPr>
              <a:t>P.</a:t>
            </a:r>
            <a:r>
              <a:rPr lang="en-US" sz="2400" b="1" spc="-145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dirty="0">
                <a:solidFill>
                  <a:srgbClr val="000000"/>
                </a:solidFill>
                <a:cs typeface="Calibri"/>
              </a:rPr>
              <a:t>DAWER</a:t>
            </a:r>
            <a:r>
              <a:rPr lang="en-US" sz="2400" b="1" spc="-17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spc="-10" dirty="0">
                <a:solidFill>
                  <a:srgbClr val="000000"/>
                </a:solidFill>
                <a:cs typeface="Calibri"/>
              </a:rPr>
              <a:t>INSTITUTE</a:t>
            </a:r>
            <a:r>
              <a:rPr lang="en-US" sz="2400" b="1" spc="-16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spc="-25" dirty="0">
                <a:solidFill>
                  <a:srgbClr val="000000"/>
                </a:solidFill>
                <a:cs typeface="Calibri"/>
              </a:rPr>
              <a:t>OF INFORMATION</a:t>
            </a:r>
            <a:r>
              <a:rPr lang="en-US" sz="2400" b="1" spc="-145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spc="-25" dirty="0">
                <a:solidFill>
                  <a:srgbClr val="000000"/>
                </a:solidFill>
                <a:cs typeface="Calibri"/>
              </a:rPr>
              <a:t>AND</a:t>
            </a:r>
            <a:r>
              <a:rPr lang="en-US" sz="2400" b="1" spc="-140" dirty="0">
                <a:solidFill>
                  <a:srgbClr val="000000"/>
                </a:solidFill>
                <a:cs typeface="Calibri"/>
              </a:rPr>
              <a:t> </a:t>
            </a:r>
            <a:r>
              <a:rPr lang="en-US" sz="2400" b="1" spc="-10" dirty="0">
                <a:solidFill>
                  <a:srgbClr val="000000"/>
                </a:solidFill>
                <a:cs typeface="Calibri"/>
              </a:rPr>
              <a:t>COMMUNICATION</a:t>
            </a:r>
            <a:r>
              <a:rPr lang="en-US" sz="2400" dirty="0">
                <a:cs typeface="Calibri"/>
              </a:rPr>
              <a:t/>
            </a:r>
            <a:br>
              <a:rPr lang="en-US" sz="2400" dirty="0">
                <a:cs typeface="Calibri"/>
              </a:rPr>
            </a:br>
            <a:r>
              <a:rPr lang="en-US" sz="2400" b="1" spc="-10" dirty="0" smtClean="0">
                <a:solidFill>
                  <a:srgbClr val="000000"/>
                </a:solidFill>
                <a:cs typeface="Calibri"/>
              </a:rPr>
              <a:t>TECHNOLOGY</a:t>
            </a:r>
            <a:br>
              <a:rPr lang="en-US" sz="2400" b="1" spc="-10" dirty="0" smtClean="0">
                <a:solidFill>
                  <a:srgbClr val="000000"/>
                </a:solidFill>
                <a:cs typeface="Calibri"/>
              </a:rPr>
            </a:br>
            <a:r>
              <a:rPr lang="en-US" b="1" spc="-10" dirty="0" smtClean="0">
                <a:solidFill>
                  <a:srgbClr val="000000"/>
                </a:solidFill>
                <a:cs typeface="Calibri"/>
              </a:rPr>
              <a:t/>
            </a:r>
            <a:br>
              <a:rPr lang="en-US" b="1" spc="-10" dirty="0" smtClean="0">
                <a:solidFill>
                  <a:srgbClr val="000000"/>
                </a:solidFill>
                <a:cs typeface="Calibri"/>
              </a:rPr>
            </a:br>
            <a:r>
              <a:rPr lang="en-US" sz="2400" spc="-10" dirty="0" smtClean="0"/>
              <a:t>Project Submission – 2 (606)</a:t>
            </a:r>
            <a:r>
              <a:rPr lang="en-US" sz="2400" spc="-10" dirty="0"/>
              <a:t/>
            </a:r>
            <a:br>
              <a:rPr lang="en-US" sz="2400" spc="-10" dirty="0"/>
            </a:br>
            <a:r>
              <a:rPr lang="en-US" sz="2400" dirty="0" smtClean="0"/>
              <a:t>(January</a:t>
            </a:r>
            <a:r>
              <a:rPr lang="en-US" sz="2400" spc="-95" dirty="0" smtClean="0"/>
              <a:t>-</a:t>
            </a:r>
            <a:r>
              <a:rPr lang="en-US" sz="2400" spc="-10" dirty="0" smtClean="0"/>
              <a:t>2026)</a:t>
            </a:r>
            <a:br>
              <a:rPr lang="en-US" sz="2400" spc="-10" dirty="0" smtClean="0"/>
            </a:br>
            <a:r>
              <a:rPr lang="en-US" sz="2400" spc="-10" dirty="0"/>
              <a:t/>
            </a:r>
            <a:br>
              <a:rPr lang="en-US" sz="2400" spc="-10" dirty="0"/>
            </a:br>
            <a:r>
              <a:rPr lang="en-US" sz="2400" b="1" dirty="0"/>
              <a:t>...:::</a:t>
            </a:r>
            <a:r>
              <a:rPr lang="en-US" sz="2400" b="1" spc="-15" dirty="0"/>
              <a:t> P</a:t>
            </a:r>
            <a:r>
              <a:rPr lang="en-US" sz="2400" b="1" spc="-20" dirty="0"/>
              <a:t>roject Name</a:t>
            </a:r>
            <a:r>
              <a:rPr lang="en-US" sz="2400" b="1" spc="-35" dirty="0"/>
              <a:t> </a:t>
            </a:r>
            <a:r>
              <a:rPr lang="en-US" sz="2400" b="1" spc="-10" dirty="0" smtClean="0"/>
              <a:t>:::...</a:t>
            </a:r>
            <a:r>
              <a:rPr lang="en-US" sz="2400" spc="-50" dirty="0" smtClean="0">
                <a:latin typeface="Times New Roman"/>
                <a:cs typeface="Times New Roman"/>
              </a:rPr>
              <a:t/>
            </a:r>
            <a:br>
              <a:rPr lang="en-US" sz="2400" spc="-50" dirty="0" smtClean="0">
                <a:latin typeface="Times New Roman"/>
                <a:cs typeface="Times New Roman"/>
              </a:rPr>
            </a:br>
            <a:r>
              <a:rPr lang="en-IN" dirty="0">
                <a:latin typeface="Arial"/>
                <a:cs typeface="Arial"/>
              </a:rPr>
              <a:t>LEGAL</a:t>
            </a:r>
            <a:r>
              <a:rPr lang="en-IN" spc="5" dirty="0">
                <a:latin typeface="Arial"/>
                <a:cs typeface="Arial"/>
              </a:rPr>
              <a:t> </a:t>
            </a:r>
            <a:r>
              <a:rPr lang="en-IN" dirty="0">
                <a:latin typeface="Arial"/>
                <a:cs typeface="Arial"/>
              </a:rPr>
              <a:t>CASE</a:t>
            </a:r>
            <a:r>
              <a:rPr lang="en-IN" spc="10" dirty="0">
                <a:latin typeface="Arial"/>
                <a:cs typeface="Arial"/>
              </a:rPr>
              <a:t> </a:t>
            </a:r>
            <a:r>
              <a:rPr lang="en-IN" spc="-10" dirty="0">
                <a:latin typeface="Arial"/>
                <a:cs typeface="Arial"/>
              </a:rPr>
              <a:t>MANAGEMENT</a:t>
            </a:r>
            <a:r>
              <a:rPr lang="en-IN" spc="10" dirty="0">
                <a:latin typeface="Arial"/>
                <a:cs typeface="Arial"/>
              </a:rPr>
              <a:t> </a:t>
            </a:r>
            <a:r>
              <a:rPr lang="en-IN" spc="-10" dirty="0" smtClean="0">
                <a:latin typeface="Arial"/>
                <a:cs typeface="Arial"/>
              </a:rPr>
              <a:t>SYSTEM</a:t>
            </a:r>
            <a:br>
              <a:rPr lang="en-IN" spc="-10" dirty="0" smtClean="0">
                <a:latin typeface="Arial"/>
                <a:cs typeface="Arial"/>
              </a:rPr>
            </a:br>
            <a:r>
              <a:rPr lang="en-US" sz="2400" spc="-50" dirty="0">
                <a:latin typeface="Times New Roman"/>
                <a:cs typeface="Times New Roman"/>
              </a:rPr>
              <a:t/>
            </a:r>
            <a:br>
              <a:rPr lang="en-US" sz="2400" spc="-50" dirty="0">
                <a:latin typeface="Times New Roman"/>
                <a:cs typeface="Times New Roman"/>
              </a:rPr>
            </a:br>
            <a:r>
              <a:rPr lang="en-US" sz="2400" b="1" dirty="0">
                <a:cs typeface="Calibri"/>
              </a:rPr>
              <a:t>...:::</a:t>
            </a:r>
            <a:r>
              <a:rPr lang="en-US" sz="2400" b="1" spc="-15" dirty="0">
                <a:cs typeface="Calibri"/>
              </a:rPr>
              <a:t> </a:t>
            </a:r>
            <a:r>
              <a:rPr lang="en-US" sz="2400" b="1" spc="-20" dirty="0">
                <a:cs typeface="Calibri"/>
              </a:rPr>
              <a:t>Guided</a:t>
            </a:r>
            <a:r>
              <a:rPr lang="en-US" sz="2400" b="1" spc="-150" dirty="0">
                <a:cs typeface="Calibri"/>
              </a:rPr>
              <a:t> </a:t>
            </a:r>
            <a:r>
              <a:rPr lang="en-US" sz="2400" b="1" dirty="0">
                <a:cs typeface="Calibri"/>
              </a:rPr>
              <a:t>By</a:t>
            </a:r>
            <a:r>
              <a:rPr lang="en-US" sz="2400" b="1" spc="-35" dirty="0">
                <a:cs typeface="Calibri"/>
              </a:rPr>
              <a:t> </a:t>
            </a:r>
            <a:r>
              <a:rPr lang="en-US" sz="2400" b="1" spc="-10" dirty="0" smtClean="0">
                <a:cs typeface="Calibri"/>
              </a:rPr>
              <a:t>:::...</a:t>
            </a:r>
            <a:r>
              <a:rPr lang="en-US" sz="2400" b="1" spc="-10" dirty="0">
                <a:cs typeface="Calibri"/>
              </a:rPr>
              <a:t/>
            </a:r>
            <a:br>
              <a:rPr lang="en-US" sz="2400" b="1" spc="-10" dirty="0">
                <a:cs typeface="Calibri"/>
              </a:rPr>
            </a:br>
            <a:r>
              <a:rPr lang="en-US" sz="2400" dirty="0"/>
              <a:t>Ms.</a:t>
            </a:r>
            <a:r>
              <a:rPr lang="en-US" sz="2400" spc="-75" dirty="0"/>
              <a:t> </a:t>
            </a:r>
            <a:r>
              <a:rPr lang="en-US" sz="2400" spc="-75" dirty="0" err="1" smtClean="0"/>
              <a:t>Parul</a:t>
            </a:r>
            <a:r>
              <a:rPr lang="en-US" sz="2400" spc="-75" dirty="0" smtClean="0"/>
              <a:t> Patel</a:t>
            </a:r>
            <a:r>
              <a:rPr lang="en-US" sz="2400" spc="-10" dirty="0" smtClean="0"/>
              <a:t/>
            </a:r>
            <a:br>
              <a:rPr lang="en-US" sz="2400" spc="-10" dirty="0" smtClean="0"/>
            </a:br>
            <a:r>
              <a:rPr lang="en-US" sz="2400" spc="-10" dirty="0"/>
              <a:t/>
            </a:r>
            <a:br>
              <a:rPr lang="en-US" sz="2400" spc="-10" dirty="0"/>
            </a:br>
            <a:r>
              <a:rPr lang="en-US" sz="2400" b="1" dirty="0">
                <a:cs typeface="Calibri"/>
              </a:rPr>
              <a:t>...:::</a:t>
            </a:r>
            <a:r>
              <a:rPr lang="en-US" sz="2400" b="1" spc="-15" dirty="0">
                <a:cs typeface="Calibri"/>
              </a:rPr>
              <a:t> </a:t>
            </a:r>
            <a:r>
              <a:rPr lang="en-US" sz="2400" b="1" spc="-20" dirty="0" smtClean="0">
                <a:cs typeface="Calibri"/>
              </a:rPr>
              <a:t>Company</a:t>
            </a:r>
            <a:r>
              <a:rPr lang="en-US" sz="2400" b="1" spc="-35" dirty="0" smtClean="0">
                <a:cs typeface="Calibri"/>
              </a:rPr>
              <a:t> </a:t>
            </a:r>
            <a:r>
              <a:rPr lang="en-US" sz="2400" b="1" spc="-10" dirty="0" smtClean="0">
                <a:cs typeface="Calibri"/>
              </a:rPr>
              <a:t>:::...</a:t>
            </a:r>
            <a:br>
              <a:rPr lang="en-US" sz="2400" b="1" spc="-10" dirty="0" smtClean="0">
                <a:cs typeface="Calibri"/>
              </a:rPr>
            </a:br>
            <a:r>
              <a:rPr lang="en-US" sz="2400" spc="-10" dirty="0" err="1" smtClean="0">
                <a:cs typeface="Calibri"/>
              </a:rPr>
              <a:t>MountainDriven</a:t>
            </a:r>
            <a:r>
              <a:rPr lang="en-US" sz="2400" spc="-10" dirty="0" smtClean="0">
                <a:cs typeface="Calibri"/>
              </a:rPr>
              <a:t> Technologies</a:t>
            </a:r>
            <a:r>
              <a:rPr lang="en-US" sz="2400" spc="-10" dirty="0"/>
              <a:t/>
            </a:r>
            <a:br>
              <a:rPr lang="en-US" sz="2400" spc="-10" dirty="0"/>
            </a:br>
            <a:r>
              <a:rPr lang="en-US" sz="2400" spc="-10" dirty="0"/>
              <a:t/>
            </a:r>
            <a:br>
              <a:rPr lang="en-US" sz="2400" spc="-10" dirty="0"/>
            </a:br>
            <a:r>
              <a:rPr lang="en-US" sz="2400" b="1" spc="-40" dirty="0">
                <a:cs typeface="Calibri"/>
              </a:rPr>
              <a:t>...:::</a:t>
            </a:r>
            <a:r>
              <a:rPr lang="en-US" sz="2400" b="1" spc="-105" dirty="0">
                <a:cs typeface="Calibri"/>
              </a:rPr>
              <a:t> </a:t>
            </a:r>
            <a:r>
              <a:rPr lang="en-US" sz="2400" b="1" spc="-10" dirty="0" smtClean="0">
                <a:cs typeface="Calibri"/>
              </a:rPr>
              <a:t>Prepared</a:t>
            </a:r>
            <a:r>
              <a:rPr lang="en-US" sz="2400" b="1" dirty="0" smtClean="0">
                <a:cs typeface="Calibri"/>
              </a:rPr>
              <a:t> By</a:t>
            </a:r>
            <a:r>
              <a:rPr lang="en-US" sz="2400" b="1" spc="-55" dirty="0" smtClean="0">
                <a:cs typeface="Calibri"/>
              </a:rPr>
              <a:t> </a:t>
            </a:r>
            <a:r>
              <a:rPr lang="en-US" sz="2400" b="1" spc="-10" dirty="0">
                <a:cs typeface="Calibri"/>
              </a:rPr>
              <a:t>:::...</a:t>
            </a:r>
            <a:r>
              <a:rPr lang="en-US" b="1" spc="-10" dirty="0">
                <a:cs typeface="Calibri"/>
              </a:rPr>
              <a:t/>
            </a:r>
            <a:br>
              <a:rPr lang="en-US" b="1" spc="-10" dirty="0">
                <a:cs typeface="Calibri"/>
              </a:rPr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577851" y="6367542"/>
            <a:ext cx="5850572" cy="2294112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51711"/>
              </p:ext>
            </p:extLst>
          </p:nvPr>
        </p:nvGraphicFramePr>
        <p:xfrm>
          <a:off x="577850" y="6367542"/>
          <a:ext cx="6096000" cy="2294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345">
                  <a:extLst>
                    <a:ext uri="{9D8B030D-6E8A-4147-A177-3AD203B41FA5}">
                      <a16:colId xmlns:a16="http://schemas.microsoft.com/office/drawing/2014/main" val="1676296086"/>
                    </a:ext>
                  </a:extLst>
                </a:gridCol>
                <a:gridCol w="4825655">
                  <a:extLst>
                    <a:ext uri="{9D8B030D-6E8A-4147-A177-3AD203B41FA5}">
                      <a16:colId xmlns:a16="http://schemas.microsoft.com/office/drawing/2014/main" val="4188162750"/>
                    </a:ext>
                  </a:extLst>
                </a:gridCol>
              </a:tblGrid>
              <a:tr h="5735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Roll No.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Name</a:t>
                      </a:r>
                      <a:endParaRPr lang="en-IN" sz="20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264972"/>
                  </a:ext>
                </a:extLst>
              </a:tr>
              <a:tr h="57352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Pathan</a:t>
                      </a:r>
                      <a:r>
                        <a:rPr lang="en-US" dirty="0" smtClean="0"/>
                        <a:t> Samir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086817"/>
                  </a:ext>
                </a:extLst>
              </a:tr>
              <a:tr h="57352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Rangoonwala</a:t>
                      </a:r>
                      <a:r>
                        <a:rPr lang="en-US" baseline="0" dirty="0" smtClean="0"/>
                        <a:t> Manan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046542"/>
                  </a:ext>
                </a:extLst>
              </a:tr>
              <a:tr h="57352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Talior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Utsav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73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084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" y="165100"/>
            <a:ext cx="7315200" cy="106003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"/>
              <a:cs typeface="Arial"/>
            </a:endParaRPr>
          </a:p>
          <a:p>
            <a:pPr marL="210185" indent="-197485">
              <a:lnSpc>
                <a:spcPct val="100000"/>
              </a:lnSpc>
              <a:buAutoNum type="arabicPeriod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Project </a:t>
            </a:r>
            <a:r>
              <a:rPr sz="1600" b="1" spc="-10" dirty="0">
                <a:latin typeface="Arial"/>
                <a:cs typeface="Arial"/>
              </a:rPr>
              <a:t>Definition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/>
            </a:pPr>
            <a:endParaRPr sz="1400" dirty="0">
              <a:latin typeface="Arial"/>
              <a:cs typeface="Arial"/>
            </a:endParaRPr>
          </a:p>
          <a:p>
            <a:pPr marL="12700" marR="141605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Legal Case Management System is a web-based application designed to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manage, track, </a:t>
            </a:r>
            <a:r>
              <a:rPr sz="1400" spc="-25" dirty="0">
                <a:latin typeface="Arial MT"/>
                <a:cs typeface="Arial MT"/>
              </a:rPr>
              <a:t>and </a:t>
            </a:r>
            <a:r>
              <a:rPr sz="1400" dirty="0">
                <a:latin typeface="Arial MT"/>
                <a:cs typeface="Arial MT"/>
              </a:rPr>
              <a:t>organize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legal cases in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 digital manner. The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 helps lawyers, law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firms, court staff, </a:t>
            </a:r>
            <a:r>
              <a:rPr sz="1400" spc="-25" dirty="0">
                <a:latin typeface="Arial MT"/>
                <a:cs typeface="Arial MT"/>
              </a:rPr>
              <a:t>and </a:t>
            </a:r>
            <a:r>
              <a:rPr sz="1400" dirty="0">
                <a:latin typeface="Arial MT"/>
                <a:cs typeface="Arial MT"/>
              </a:rPr>
              <a:t>clients to maintain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 records,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hearing schedules, documents,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case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status efficiently. </a:t>
            </a:r>
            <a:r>
              <a:rPr sz="1400" spc="-25" dirty="0">
                <a:latin typeface="Arial MT"/>
                <a:cs typeface="Arial MT"/>
              </a:rPr>
              <a:t>It </a:t>
            </a:r>
            <a:r>
              <a:rPr sz="1400" dirty="0">
                <a:latin typeface="Arial MT"/>
                <a:cs typeface="Arial MT"/>
              </a:rPr>
              <a:t>reduces manual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paperwork 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accuracy, security,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productivity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legal </a:t>
            </a:r>
            <a:r>
              <a:rPr sz="1400" spc="-10" dirty="0">
                <a:latin typeface="Arial MT"/>
                <a:cs typeface="Arial MT"/>
              </a:rPr>
              <a:t>operations.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2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Purpose of the </a:t>
            </a:r>
            <a:r>
              <a:rPr sz="1600" b="1" spc="-10" dirty="0">
                <a:latin typeface="Arial"/>
                <a:cs typeface="Arial"/>
              </a:rPr>
              <a:t>Project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 startAt="2"/>
            </a:pPr>
            <a:endParaRPr sz="1400" dirty="0">
              <a:latin typeface="Arial"/>
              <a:cs typeface="Arial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To digitalize legal case management </a:t>
            </a:r>
            <a:r>
              <a:rPr sz="1400" spc="-10" dirty="0">
                <a:latin typeface="Arial MT"/>
                <a:cs typeface="Arial MT"/>
              </a:rPr>
              <a:t>processes.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To reduce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paperwork 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manual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errors.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To provide centralized case </a:t>
            </a:r>
            <a:r>
              <a:rPr sz="1400" spc="-10" dirty="0">
                <a:latin typeface="Arial MT"/>
                <a:cs typeface="Arial MT"/>
              </a:rPr>
              <a:t>tracking.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To ensure secure storage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 legal </a:t>
            </a:r>
            <a:r>
              <a:rPr sz="1400" spc="-10" dirty="0">
                <a:latin typeface="Arial MT"/>
                <a:cs typeface="Arial MT"/>
              </a:rPr>
              <a:t>documents.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3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Project </a:t>
            </a:r>
            <a:r>
              <a:rPr sz="1600" b="1" spc="-10" dirty="0">
                <a:latin typeface="Arial"/>
                <a:cs typeface="Arial"/>
              </a:rPr>
              <a:t>Objectives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 startAt="3"/>
            </a:pPr>
            <a:endParaRPr sz="1400" dirty="0">
              <a:latin typeface="Arial"/>
              <a:cs typeface="Arial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Maintain complete case lifecycle </a:t>
            </a:r>
            <a:r>
              <a:rPr sz="1400" spc="-10" dirty="0">
                <a:latin typeface="Arial MT"/>
                <a:cs typeface="Arial MT"/>
              </a:rPr>
              <a:t>information.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Improve efficiency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lawyers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court </a:t>
            </a:r>
            <a:r>
              <a:rPr sz="1400" spc="-10" dirty="0">
                <a:latin typeface="Arial MT"/>
                <a:cs typeface="Arial MT"/>
              </a:rPr>
              <a:t>staff.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Provide quick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access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 case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history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 </a:t>
            </a:r>
            <a:r>
              <a:rPr sz="1400" spc="-10" dirty="0">
                <a:latin typeface="Arial MT"/>
                <a:cs typeface="Arial MT"/>
              </a:rPr>
              <a:t>documents.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Send reminders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 hearings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deadlines.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4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Scope of the </a:t>
            </a:r>
            <a:r>
              <a:rPr sz="1600" b="1" spc="-10" dirty="0">
                <a:latin typeface="Arial"/>
                <a:cs typeface="Arial"/>
              </a:rPr>
              <a:t>Project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 startAt="4"/>
            </a:pPr>
            <a:endParaRPr sz="1400" dirty="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Arial MT"/>
                <a:cs typeface="Arial MT"/>
              </a:rPr>
              <a:t>The system covers case registration, client management, document management, </a:t>
            </a:r>
            <a:r>
              <a:rPr sz="1400" spc="-10" dirty="0">
                <a:latin typeface="Arial MT"/>
                <a:cs typeface="Arial MT"/>
              </a:rPr>
              <a:t>hearing </a:t>
            </a:r>
            <a:r>
              <a:rPr sz="1400" dirty="0">
                <a:latin typeface="Arial MT"/>
                <a:cs typeface="Arial MT"/>
              </a:rPr>
              <a:t>schedules,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 status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tracking, and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user management. It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does not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include judicial decision-</a:t>
            </a:r>
            <a:r>
              <a:rPr sz="1400" spc="-10" dirty="0">
                <a:latin typeface="Arial MT"/>
                <a:cs typeface="Arial MT"/>
              </a:rPr>
              <a:t>making processes.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5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Target </a:t>
            </a:r>
            <a:r>
              <a:rPr sz="1600" b="1" spc="-10" dirty="0">
                <a:latin typeface="Arial"/>
                <a:cs typeface="Arial"/>
              </a:rPr>
              <a:t>Users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 startAt="5"/>
            </a:pPr>
            <a:endParaRPr sz="1600" dirty="0">
              <a:latin typeface="Arial"/>
              <a:cs typeface="Arial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600" spc="-10" dirty="0">
                <a:latin typeface="Arial MT"/>
                <a:cs typeface="Arial MT"/>
              </a:rPr>
              <a:t>Lawyers</a:t>
            </a:r>
            <a:endParaRPr sz="16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600" dirty="0">
                <a:latin typeface="Arial MT"/>
                <a:cs typeface="Arial MT"/>
              </a:rPr>
              <a:t>Law </a:t>
            </a:r>
            <a:r>
              <a:rPr sz="1600" spc="-10" dirty="0">
                <a:latin typeface="Arial MT"/>
                <a:cs typeface="Arial MT"/>
              </a:rPr>
              <a:t>Firms</a:t>
            </a:r>
            <a:endParaRPr sz="16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600" dirty="0">
                <a:latin typeface="Arial MT"/>
                <a:cs typeface="Arial MT"/>
              </a:rPr>
              <a:t>Court </a:t>
            </a:r>
            <a:r>
              <a:rPr sz="1600" spc="-10" dirty="0">
                <a:latin typeface="Arial MT"/>
                <a:cs typeface="Arial MT"/>
              </a:rPr>
              <a:t>Staff</a:t>
            </a:r>
            <a:endParaRPr sz="16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600" spc="-10" dirty="0">
                <a:latin typeface="Arial MT"/>
                <a:cs typeface="Arial MT"/>
              </a:rPr>
              <a:t>Clients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210185" indent="-197485">
              <a:lnSpc>
                <a:spcPct val="100000"/>
              </a:lnSpc>
              <a:buAutoNum type="arabicPeriod" startAt="6"/>
              <a:tabLst>
                <a:tab pos="210185" algn="l"/>
              </a:tabLst>
            </a:pPr>
            <a:r>
              <a:rPr sz="1600" b="1" dirty="0">
                <a:latin typeface="Arial"/>
                <a:cs typeface="Arial"/>
              </a:rPr>
              <a:t>System </a:t>
            </a:r>
            <a:r>
              <a:rPr sz="1600" b="1" spc="-10" dirty="0">
                <a:latin typeface="Arial"/>
                <a:cs typeface="Arial"/>
              </a:rPr>
              <a:t>Modules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AutoNum type="arabicPeriod" startAt="6"/>
            </a:pPr>
            <a:endParaRPr sz="1400" dirty="0">
              <a:latin typeface="Arial"/>
              <a:cs typeface="Arial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Management</a:t>
            </a:r>
            <a:r>
              <a:rPr sz="1400" spc="-10" dirty="0">
                <a:latin typeface="Arial MT"/>
                <a:cs typeface="Arial MT"/>
              </a:rPr>
              <a:t> Module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Case Management </a:t>
            </a:r>
            <a:r>
              <a:rPr sz="1400" spc="-10" dirty="0">
                <a:latin typeface="Arial MT"/>
                <a:cs typeface="Arial MT"/>
              </a:rPr>
              <a:t>Module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Client Management </a:t>
            </a:r>
            <a:r>
              <a:rPr sz="1400" spc="-10" dirty="0">
                <a:latin typeface="Arial MT"/>
                <a:cs typeface="Arial MT"/>
              </a:rPr>
              <a:t>Module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Hearing &amp; Schedule </a:t>
            </a:r>
            <a:r>
              <a:rPr sz="1400" spc="-10" dirty="0">
                <a:latin typeface="Arial MT"/>
                <a:cs typeface="Arial MT"/>
              </a:rPr>
              <a:t>Module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Document Management </a:t>
            </a:r>
            <a:r>
              <a:rPr sz="1400" spc="-10" dirty="0">
                <a:latin typeface="Arial MT"/>
                <a:cs typeface="Arial MT"/>
              </a:rPr>
              <a:t>Module</a:t>
            </a:r>
            <a:endParaRPr sz="1400" dirty="0">
              <a:latin typeface="Arial MT"/>
              <a:cs typeface="Arial MT"/>
            </a:endParaRPr>
          </a:p>
          <a:p>
            <a:pPr marL="92075" lvl="1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Notification &amp; Reminder </a:t>
            </a:r>
            <a:r>
              <a:rPr sz="1400" spc="-10" dirty="0">
                <a:latin typeface="Arial MT"/>
                <a:cs typeface="Arial MT"/>
              </a:rPr>
              <a:t>Module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7. Functional </a:t>
            </a:r>
            <a:r>
              <a:rPr sz="1600" b="1" spc="-10" dirty="0">
                <a:latin typeface="Arial"/>
                <a:cs typeface="Arial"/>
              </a:rPr>
              <a:t>Requirements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0993886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6850" y="12700"/>
            <a:ext cx="6019800" cy="20056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79375">
              <a:lnSpc>
                <a:spcPct val="100000"/>
              </a:lnSpc>
              <a:spcBef>
                <a:spcPts val="100"/>
              </a:spcBef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User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registration and </a:t>
            </a:r>
            <a:r>
              <a:rPr sz="1400" spc="-10" dirty="0">
                <a:latin typeface="Arial MT"/>
                <a:cs typeface="Arial MT"/>
              </a:rPr>
              <a:t>login.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Add,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update,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delete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</a:t>
            </a:r>
            <a:r>
              <a:rPr sz="1400" spc="1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records.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Upload 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legal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documents.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Schedule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hearings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deadlines.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Search and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filter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case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details.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8. Database Design (Field – Type – </a:t>
            </a:r>
            <a:r>
              <a:rPr sz="1600" b="1" spc="-10" dirty="0">
                <a:latin typeface="Arial"/>
                <a:cs typeface="Arial"/>
              </a:rPr>
              <a:t>Description</a:t>
            </a:r>
            <a:r>
              <a:rPr sz="1600" b="1" spc="-10" dirty="0" smtClean="0">
                <a:latin typeface="Arial"/>
                <a:cs typeface="Arial"/>
              </a:rPr>
              <a:t>)</a:t>
            </a:r>
            <a:endParaRPr lang="en-US" sz="1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endParaRPr sz="1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Table: </a:t>
            </a:r>
            <a:r>
              <a:rPr sz="1200" b="1" spc="-10" dirty="0">
                <a:latin typeface="Arial"/>
                <a:cs typeface="Arial"/>
              </a:rPr>
              <a:t>Users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762325"/>
              </p:ext>
            </p:extLst>
          </p:nvPr>
        </p:nvGraphicFramePr>
        <p:xfrm>
          <a:off x="196850" y="2094580"/>
          <a:ext cx="6243800" cy="2261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3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0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user_id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user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username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Login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username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password_hash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Encrypted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password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role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role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0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email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4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email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address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phone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Contact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number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78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created_at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DATETIME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Account creation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20650" y="4432297"/>
            <a:ext cx="171576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Table: </a:t>
            </a:r>
            <a:r>
              <a:rPr sz="1200" b="1" spc="-10" dirty="0">
                <a:latin typeface="Arial"/>
                <a:cs typeface="Arial"/>
              </a:rPr>
              <a:t>Clients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676641"/>
              </p:ext>
            </p:extLst>
          </p:nvPr>
        </p:nvGraphicFramePr>
        <p:xfrm>
          <a:off x="196850" y="4660897"/>
          <a:ext cx="62438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39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0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client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 full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address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phone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 contact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number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email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email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case_count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Total cases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registered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created_at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DATETIME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 registration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96850" y="6826250"/>
            <a:ext cx="15900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Table: </a:t>
            </a:r>
            <a:r>
              <a:rPr sz="1200" b="1" spc="-10" dirty="0">
                <a:latin typeface="Arial"/>
                <a:cs typeface="Arial"/>
              </a:rPr>
              <a:t>Cases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90809"/>
              </p:ext>
            </p:extLst>
          </p:nvPr>
        </p:nvGraphicFramePr>
        <p:xfrm>
          <a:off x="273050" y="7023738"/>
          <a:ext cx="6167600" cy="201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2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case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client_id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(FK)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Linked client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title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details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case_type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Type of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case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Current case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37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filing_date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 filing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304142"/>
              </p:ext>
            </p:extLst>
          </p:nvPr>
        </p:nvGraphicFramePr>
        <p:xfrm>
          <a:off x="139699" y="754420"/>
          <a:ext cx="7150079" cy="1372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hearing_id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hearing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(FK)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Related case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hearing_date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Scheduled hearing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judge_name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Judge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56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remarks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TEXT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Hearing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remarks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39700" y="2216150"/>
            <a:ext cx="196469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Table: </a:t>
            </a:r>
            <a:r>
              <a:rPr sz="1200" b="1" spc="-10" dirty="0">
                <a:latin typeface="Arial"/>
                <a:cs typeface="Arial"/>
              </a:rPr>
              <a:t>Documents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41461"/>
              </p:ext>
            </p:extLst>
          </p:nvPr>
        </p:nvGraphicFramePr>
        <p:xfrm>
          <a:off x="139699" y="2471762"/>
          <a:ext cx="7150079" cy="17602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document_id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document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(FK)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Related case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doc_name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Document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doc_type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Type of</a:t>
                      </a:r>
                      <a:r>
                        <a:rPr sz="14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document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file_path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File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storage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path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09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uploaded_at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DATETIME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Upload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date</a:t>
                      </a:r>
                      <a:r>
                        <a:rPr sz="14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time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39699" y="4268763"/>
            <a:ext cx="2014221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Table: </a:t>
            </a:r>
            <a:r>
              <a:rPr sz="1200" b="1" spc="-10" dirty="0">
                <a:latin typeface="Arial"/>
                <a:cs typeface="Arial"/>
              </a:rPr>
              <a:t>CaseHistory</a:t>
            </a:r>
            <a:endParaRPr sz="1200" dirty="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416876"/>
              </p:ext>
            </p:extLst>
          </p:nvPr>
        </p:nvGraphicFramePr>
        <p:xfrm>
          <a:off x="139699" y="4502151"/>
          <a:ext cx="7150079" cy="18351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history_id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history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(FK)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Related case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ID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status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remarks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Status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remarks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858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updated_at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DATETIME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Last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400" spc="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8379818"/>
              </p:ext>
            </p:extLst>
          </p:nvPr>
        </p:nvGraphicFramePr>
        <p:xfrm>
          <a:off x="139699" y="6766700"/>
          <a:ext cx="7150079" cy="1551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5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Field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Type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Description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3D3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judgement_id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(PK)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Unique judgement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identification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case_id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(FK)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5" dirty="0">
                          <a:latin typeface="Arial MT"/>
                          <a:cs typeface="Arial MT"/>
                        </a:rPr>
                        <a:t>INT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Related case 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ID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judgement_text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TEXT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Judgement </a:t>
                      </a:r>
                      <a:r>
                        <a:rPr sz="1400" spc="-10" dirty="0">
                          <a:latin typeface="Arial MT"/>
                          <a:cs typeface="Arial MT"/>
                        </a:rPr>
                        <a:t>details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judgement_date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Judgement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date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63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judge_name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VARCHAR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Judge </a:t>
                      </a:r>
                      <a:r>
                        <a:rPr sz="1400" spc="-20" dirty="0">
                          <a:latin typeface="Arial MT"/>
                          <a:cs typeface="Arial MT"/>
                        </a:rPr>
                        <a:t>name</a:t>
                      </a:r>
                      <a:endParaRPr sz="14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5880" y="54373"/>
            <a:ext cx="3048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smtClean="0">
                <a:latin typeface="Arial"/>
                <a:cs typeface="Arial"/>
              </a:rPr>
              <a:t>Table: </a:t>
            </a:r>
            <a:r>
              <a:rPr lang="en-IN" sz="1200" b="1" spc="-10" dirty="0" smtClean="0">
                <a:latin typeface="Arial"/>
                <a:cs typeface="Arial"/>
              </a:rPr>
              <a:t>Hearings</a:t>
            </a:r>
            <a:endParaRPr lang="en-IN" sz="1200" dirty="0" smtClean="0">
              <a:latin typeface="Arial"/>
              <a:cs typeface="Arial"/>
            </a:endParaRPr>
          </a:p>
          <a:p>
            <a:endParaRPr lang="en-IN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393700"/>
            <a:ext cx="7219950" cy="4419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5881" y="6413500"/>
            <a:ext cx="3569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Table: Judgement</a:t>
            </a:r>
            <a:endParaRPr lang="en-IN" sz="1200" dirty="0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650" y="393700"/>
            <a:ext cx="7315200" cy="5429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r>
              <a:rPr lang="en-US" sz="1200" b="1" dirty="0" smtClean="0">
                <a:latin typeface="Arial"/>
                <a:cs typeface="Arial"/>
              </a:rPr>
              <a:t>Table: Notification</a:t>
            </a:r>
            <a:endParaRPr lang="en-IN" sz="12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US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US" sz="1400" b="1" dirty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US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endParaRPr lang="en-IN" sz="1400" b="1" dirty="0" smtClean="0">
              <a:latin typeface="Arial"/>
              <a:cs typeface="Arial"/>
            </a:endParaRPr>
          </a:p>
          <a:p>
            <a:pPr marL="92075" indent="-79375">
              <a:spcBef>
                <a:spcPts val="100"/>
              </a:spcBef>
              <a:buFontTx/>
              <a:buChar char="•"/>
              <a:tabLst>
                <a:tab pos="92075" algn="l"/>
              </a:tabLst>
            </a:pPr>
            <a:r>
              <a:rPr lang="en-IN" sz="1600" b="1" dirty="0" smtClean="0">
                <a:latin typeface="Arial"/>
                <a:cs typeface="Arial"/>
              </a:rPr>
              <a:t>9. Technology </a:t>
            </a:r>
            <a:r>
              <a:rPr lang="en-IN" sz="1600" b="1" spc="-10" dirty="0" smtClean="0">
                <a:latin typeface="Arial"/>
                <a:cs typeface="Arial"/>
              </a:rPr>
              <a:t>Stack</a:t>
            </a:r>
            <a:endParaRPr lang="en-IN" sz="1600" dirty="0" smtClean="0">
              <a:latin typeface="Arial"/>
              <a:cs typeface="Arial"/>
            </a:endParaRPr>
          </a:p>
          <a:p>
            <a:pPr marL="92075" indent="-79375">
              <a:lnSpc>
                <a:spcPct val="100000"/>
              </a:lnSpc>
              <a:spcBef>
                <a:spcPts val="100"/>
              </a:spcBef>
              <a:buChar char="•"/>
              <a:tabLst>
                <a:tab pos="92075" algn="l"/>
              </a:tabLst>
            </a:pPr>
            <a:endParaRPr lang="en-US" sz="1400" dirty="0" smtClean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spcBef>
                <a:spcPts val="100"/>
              </a:spcBef>
              <a:buChar char="•"/>
              <a:tabLst>
                <a:tab pos="92075" algn="l"/>
              </a:tabLst>
            </a:pPr>
            <a:r>
              <a:rPr sz="1400" dirty="0" smtClean="0">
                <a:latin typeface="Arial MT"/>
                <a:cs typeface="Arial MT"/>
              </a:rPr>
              <a:t>Frontend</a:t>
            </a:r>
            <a:r>
              <a:rPr sz="1400" dirty="0">
                <a:latin typeface="Arial MT"/>
                <a:cs typeface="Arial MT"/>
              </a:rPr>
              <a:t>: HTML, CSS, JavaScript, </a:t>
            </a:r>
            <a:r>
              <a:rPr sz="1400" spc="-10" dirty="0">
                <a:latin typeface="Arial MT"/>
                <a:cs typeface="Arial MT"/>
              </a:rPr>
              <a:t>Bootstrap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Backend: </a:t>
            </a:r>
            <a:r>
              <a:rPr lang="en-US" sz="1400" dirty="0" smtClean="0">
                <a:latin typeface="Arial MT"/>
                <a:cs typeface="Arial MT"/>
              </a:rPr>
              <a:t>Python Flask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Database: </a:t>
            </a:r>
            <a:r>
              <a:rPr lang="en-US" sz="1400" dirty="0" smtClean="0">
                <a:latin typeface="Arial MT"/>
                <a:cs typeface="Arial MT"/>
              </a:rPr>
              <a:t>MongoDB</a:t>
            </a:r>
            <a:r>
              <a:rPr sz="1400" dirty="0" smtClean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/ </a:t>
            </a:r>
            <a:r>
              <a:rPr sz="1400" spc="-10" dirty="0">
                <a:latin typeface="Arial MT"/>
                <a:cs typeface="Arial MT"/>
              </a:rPr>
              <a:t>MySQL</a:t>
            </a:r>
            <a:endParaRPr sz="1400" dirty="0">
              <a:latin typeface="Arial MT"/>
              <a:cs typeface="Arial MT"/>
            </a:endParaRPr>
          </a:p>
          <a:p>
            <a:pPr marL="92075" indent="-79375">
              <a:lnSpc>
                <a:spcPct val="100000"/>
              </a:lnSpc>
              <a:buChar char="•"/>
              <a:tabLst>
                <a:tab pos="92075" algn="l"/>
              </a:tabLst>
            </a:pPr>
            <a:r>
              <a:rPr sz="1400" dirty="0">
                <a:latin typeface="Arial MT"/>
                <a:cs typeface="Arial MT"/>
              </a:rPr>
              <a:t>Server: </a:t>
            </a:r>
            <a:r>
              <a:rPr sz="1400" spc="-25" dirty="0" err="1" smtClean="0">
                <a:latin typeface="Arial MT"/>
                <a:cs typeface="Arial MT"/>
              </a:rPr>
              <a:t>I</a:t>
            </a:r>
            <a:r>
              <a:rPr lang="en-US" sz="1400" spc="-25" dirty="0" err="1" smtClean="0">
                <a:latin typeface="Arial MT"/>
                <a:cs typeface="Arial MT"/>
              </a:rPr>
              <a:t>ocalhost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10. </a:t>
            </a:r>
            <a:r>
              <a:rPr sz="1600" b="1" spc="-10" dirty="0">
                <a:latin typeface="Arial"/>
                <a:cs typeface="Arial"/>
              </a:rPr>
              <a:t>Conclusion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4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</a:pPr>
            <a:r>
              <a:rPr sz="1400" dirty="0" smtClean="0">
                <a:latin typeface="Arial MT"/>
                <a:cs typeface="Arial MT"/>
              </a:rPr>
              <a:t>Legal Case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Management System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provides an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efficient, secure,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and organized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way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to manage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spc="-10" dirty="0" smtClean="0">
                <a:latin typeface="Arial MT"/>
                <a:cs typeface="Arial MT"/>
              </a:rPr>
              <a:t>legal </a:t>
            </a:r>
            <a:r>
              <a:rPr sz="1400" dirty="0" smtClean="0">
                <a:latin typeface="Arial MT"/>
                <a:cs typeface="Arial MT"/>
              </a:rPr>
              <a:t>cases.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The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system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improves productivity,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reduces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manual work,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and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supports digital</a:t>
            </a:r>
            <a:r>
              <a:rPr sz="1400" spc="-5" dirty="0" smtClean="0">
                <a:latin typeface="Arial MT"/>
                <a:cs typeface="Arial MT"/>
              </a:rPr>
              <a:t> </a:t>
            </a:r>
            <a:r>
              <a:rPr sz="1400" spc="-10" dirty="0" smtClean="0">
                <a:latin typeface="Arial MT"/>
                <a:cs typeface="Arial MT"/>
              </a:rPr>
              <a:t>transformation </a:t>
            </a:r>
            <a:r>
              <a:rPr sz="1400" dirty="0" smtClean="0">
                <a:latin typeface="Arial MT"/>
                <a:cs typeface="Arial MT"/>
              </a:rPr>
              <a:t>in the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dirty="0" smtClean="0">
                <a:latin typeface="Arial MT"/>
                <a:cs typeface="Arial MT"/>
              </a:rPr>
              <a:t>legal</a:t>
            </a:r>
            <a:r>
              <a:rPr sz="1400" spc="5" dirty="0" smtClean="0">
                <a:latin typeface="Arial MT"/>
                <a:cs typeface="Arial MT"/>
              </a:rPr>
              <a:t> </a:t>
            </a:r>
            <a:r>
              <a:rPr sz="1400" spc="-10" dirty="0" smtClean="0">
                <a:latin typeface="Arial MT"/>
                <a:cs typeface="Arial MT"/>
              </a:rPr>
              <a:t>sector.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698501"/>
            <a:ext cx="7162800" cy="220979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0250" y="241300"/>
            <a:ext cx="533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ER DIAGRAM</a:t>
            </a:r>
            <a:endParaRPr lang="en-IN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7100"/>
            <a:ext cx="75565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05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7850" y="241300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USE CASE DIAGRAM</a:t>
            </a:r>
            <a:endParaRPr lang="en-IN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410"/>
            <a:ext cx="7556499" cy="1005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04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610</Words>
  <Application>Microsoft Office PowerPoint</Application>
  <PresentationFormat>Custom</PresentationFormat>
  <Paragraphs>232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MT</vt:lpstr>
      <vt:lpstr>Calibri</vt:lpstr>
      <vt:lpstr>Times New Roman</vt:lpstr>
      <vt:lpstr>Office Theme</vt:lpstr>
      <vt:lpstr>J. P. DAWER INSTITUTE OF INFORMATION AND COMMUNICATION TECHNOLOGY  Project Submission – 2 (606) (January-2026)  ...::: Project Name :::... LEGAL CASE MANAGEMENT SYSTEM  ...::: Guided By :::... Ms. Parul Patel  ...::: Company :::... MountainDriven Technologies  ...::: Prepared By :::...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(anonymous)</dc:title>
  <dc:subject>(unspecified)</dc:subject>
  <dc:creator>(anonymous)</dc:creator>
  <cp:lastModifiedBy>ADMIN</cp:lastModifiedBy>
  <cp:revision>7</cp:revision>
  <dcterms:created xsi:type="dcterms:W3CDTF">2026-01-29T10:39:21Z</dcterms:created>
  <dcterms:modified xsi:type="dcterms:W3CDTF">2026-01-29T17:39:09Z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2026-01-07T00:00:00Z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2026-01-29T00:00:00Z</vt:filetime>
  </property>
  <property fmtid="{D5CDD505-2E9C-101B-9397-08002B2CF9AE}" pid="5" name="Producer">
    <vt:lpwstr>ReportLab PDF Library - www.reportlab.com</vt:lpwstr>
  </property>
</Properties>
</file>